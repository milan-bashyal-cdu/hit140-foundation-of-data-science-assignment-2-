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2061939-495D-42AA-915F-57079F769B87}"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6040" cy="3085920"/>
          </a:xfrm>
          <a:prstGeom prst="rect">
            <a:avLst/>
          </a:prstGeom>
          <a:ln w="0">
            <a:noFill/>
          </a:ln>
        </p:spPr>
      </p:sp>
      <p:sp>
        <p:nvSpPr>
          <p:cNvPr id="1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Good morning. We analysed goalkeeping at the FIFA World Cup 2026 - 62 goalkeepers from 48 nations. Everything you will see was wrangled, tested and plotted in Python. We asked three distinct questions: how well keepers perform, how hard they are worked, and who gets picked.</a:t>
            </a:r>
            <a:endParaRPr lang="en-US" sz="2000" b="0" u="none" strike="noStrike">
              <a:solidFill>
                <a:srgbClr val="000000"/>
              </a:solidFill>
              <a:effectLst/>
              <a:uFillTx/>
              <a:latin typeface="Arial"/>
            </a:endParaRPr>
          </a:p>
        </p:txBody>
      </p:sp>
      <p:sp>
        <p:nvSpPr>
          <p:cNvPr id="11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5BCC58-539E-4B3A-B1F1-DF9889EC34E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685800" y="1143000"/>
            <a:ext cx="5486040" cy="3085920"/>
          </a:xfrm>
          <a:prstGeom prst="rect">
            <a:avLst/>
          </a:prstGeom>
          <a:ln w="0">
            <a:noFill/>
          </a:ln>
        </p:spPr>
      </p:sp>
      <p:sp>
        <p:nvSpPr>
          <p:cNvPr id="1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 started from a single raw CSV. We audited it, confirmed the missing save percentages were structurally undefined rather than data errors, re-derived save percentage from first principles to validate the column, and engineered the new variables each task needs. Every task then defines its own population, sampling frame and random sample, with a fixed seed so all our numbers are reproducible.</a:t>
            </a:r>
            <a:endParaRPr lang="en-US" sz="2000" b="0" u="none" strike="noStrike">
              <a:solidFill>
                <a:srgbClr val="000000"/>
              </a:solidFill>
              <a:effectLst/>
              <a:uFillTx/>
              <a:latin typeface="Arial"/>
            </a:endParaRPr>
          </a:p>
        </p:txBody>
      </p:sp>
      <p:sp>
        <p:nvSpPr>
          <p:cNvPr id="12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6D7EEE-0F0F-45B3-8AE6-9AF752FD1D9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6040" cy="3085920"/>
          </a:xfrm>
          <a:prstGeom prst="rect">
            <a:avLst/>
          </a:prstGeom>
          <a:ln w="0">
            <a:noFill/>
          </a:ln>
        </p:spPr>
      </p:sp>
      <p:sp>
        <p:nvSpPr>
          <p:cNvPr id="1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Task one: shot-stopping. From the 55 keepers with a meaningful workload we drew a stratified random sample of 36. On average they saved 63.6 per cent of the shots on target they faced, and we are 95 per cent confident the population mean lies between 58.4 and 68.8. A Welch two-sample t-test then compared keepers whose teams reached the knockout stage with those eliminated in the group stage: 70.5 versus 56.8 per cent. That 13.6-point gap gives p equals 0.006 with a large effect size, so we reject the null hypothesis.</a:t>
            </a:r>
            <a:endParaRPr lang="en-US" sz="2000" b="0" u="none" strike="noStrike">
              <a:solidFill>
                <a:srgbClr val="000000"/>
              </a:solidFill>
              <a:effectLst/>
              <a:uFillTx/>
              <a:latin typeface="Arial"/>
            </a:endParaRPr>
          </a:p>
        </p:txBody>
      </p:sp>
      <p:sp>
        <p:nvSpPr>
          <p:cNvPr id="12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EE9AB5-3E7E-4AC1-AC83-963E9B2EF0A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685800" y="1143000"/>
            <a:ext cx="5486040" cy="3085920"/>
          </a:xfrm>
          <a:prstGeom prst="rect">
            <a:avLst/>
          </a:prstGeom>
          <a:ln w="0">
            <a:noFill/>
          </a:ln>
        </p:spPr>
      </p:sp>
      <p:sp>
        <p:nvSpPr>
          <p:cNvPr id="1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Task two changes the focal point completely: not how well the keeper performs, but how often he is tested. A simple random sample of 40 shows keepers face 4.63 shots on target per 90 minutes - roughly one every twenty minutes - with an interval of 3.94 to 5.32. Comparing UEFA and CONMEBOL keepers with the rest of the world gives 3.96 versus 4.95, but p is 0.17, so we fail to reject the null. The powerhouses do not shield their keeper from work; their edge is in the saving, not the shielding.</a:t>
            </a:r>
            <a:endParaRPr lang="en-US" sz="2000" b="0" u="none" strike="noStrike">
              <a:solidFill>
                <a:srgbClr val="000000"/>
              </a:solidFill>
              <a:effectLst/>
              <a:uFillTx/>
              <a:latin typeface="Arial"/>
            </a:endParaRPr>
          </a:p>
        </p:txBody>
      </p:sp>
      <p:sp>
        <p:nvSpPr>
          <p:cNvPr id="12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78D5D1-9291-49E4-BE5F-ED16604C402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685800" y="1143000"/>
            <a:ext cx="5486040" cy="3085920"/>
          </a:xfrm>
          <a:prstGeom prst="rect">
            <a:avLst/>
          </a:prstGeom>
          <a:ln w="0">
            <a:noFill/>
          </a:ln>
        </p:spPr>
      </p:sp>
      <p:sp>
        <p:nvSpPr>
          <p:cNvPr id="1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Task three asks who nations actually pick. A systematic sample of 31 keepers has a mean age of 31.1 years, interval 29.5 to 32.7. A one-sample t-test against the 27-year peak age of an outfield professional gives t equals 5.24 and p below 0.0001. World Cup goalkeepers are four years older than the outfield benchmark - goalkeeping is an experience position.</a:t>
            </a:r>
            <a:endParaRPr lang="en-US" sz="2000" b="0" u="none" strike="noStrike">
              <a:solidFill>
                <a:srgbClr val="000000"/>
              </a:solidFill>
              <a:effectLst/>
              <a:uFillTx/>
              <a:latin typeface="Arial"/>
            </a:endParaRPr>
          </a:p>
        </p:txBody>
      </p:sp>
      <p:sp>
        <p:nvSpPr>
          <p:cNvPr id="13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34C82D9-5928-4848-B54D-9EE7A25B83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685800" y="1143000"/>
            <a:ext cx="5486040" cy="3085920"/>
          </a:xfrm>
          <a:prstGeom prst="rect">
            <a:avLst/>
          </a:prstGeom>
          <a:ln w="0">
            <a:noFill/>
          </a:ln>
        </p:spPr>
      </p:sp>
      <p:sp>
        <p:nvSpPr>
          <p:cNvPr id="1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Put together: three distinct focal points, three different sampling designs, two significant findings and one honest null result. As a check on the method, all three ninety-five per cent intervals captured the true mean of the frame, and we tested the normality and variance assumptions before every t-test.</a:t>
            </a:r>
            <a:endParaRPr lang="en-US" sz="2000" b="0" u="none" strike="noStrike">
              <a:solidFill>
                <a:srgbClr val="000000"/>
              </a:solidFill>
              <a:effectLst/>
              <a:uFillTx/>
              <a:latin typeface="Arial"/>
            </a:endParaRPr>
          </a:p>
        </p:txBody>
      </p:sp>
      <p:sp>
        <p:nvSpPr>
          <p:cNvPr id="13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046CA8-295F-4B88-901A-09480A14553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685800" y="1143000"/>
            <a:ext cx="5486040" cy="3085920"/>
          </a:xfrm>
          <a:prstGeom prst="rect">
            <a:avLst/>
          </a:prstGeom>
          <a:ln w="0">
            <a:noFill/>
          </a:ln>
        </p:spPr>
      </p:sp>
      <p:sp>
        <p:nvSpPr>
          <p:cNvPr id="1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 to a coach: recruit for shot-stopping, do not read a heavy workload as goalkeeping weakness, and value experience. Our limitations are one tournament, a small frame, no shot-quality data, and the fact that reaching the knockout stage is an outcome rather than a randomised treatment - so these are associations, not causes. Thank you.</a:t>
            </a:r>
            <a:endParaRPr lang="en-US" sz="2000" b="0" u="none" strike="noStrike">
              <a:solidFill>
                <a:srgbClr val="000000"/>
              </a:solidFill>
              <a:effectLst/>
              <a:uFillTx/>
              <a:latin typeface="Arial"/>
            </a:endParaRPr>
          </a:p>
        </p:txBody>
      </p:sp>
      <p:sp>
        <p:nvSpPr>
          <p:cNvPr id="13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03D26A-FCAF-4C3D-85ED-2315219E647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3D2E"/>
        </a:solidFill>
      </p:bgPr>
    </p:bg>
    <p:spTree>
      <p:nvGrpSpPr>
        <p:cNvPr id="1" name=""/>
        <p:cNvGrpSpPr/>
        <p:nvPr/>
      </p:nvGrpSpPr>
      <p:grpSpPr>
        <a:xfrm>
          <a:off x="0" y="0"/>
          <a:ext cx="0" cy="0"/>
          <a:chOff x="0" y="0"/>
          <a:chExt cx="0" cy="0"/>
        </a:xfrm>
      </p:grpSpPr>
      <p:sp>
        <p:nvSpPr>
          <p:cNvPr id="10" name="Shape 0"/>
          <p:cNvSpPr/>
          <p:nvPr/>
        </p:nvSpPr>
        <p:spPr>
          <a:xfrm>
            <a:off x="6903720" y="-1051560"/>
            <a:ext cx="3565800" cy="3565800"/>
          </a:xfrm>
          <a:prstGeom prst="ellipse">
            <a:avLst/>
          </a:prstGeom>
          <a:solidFill>
            <a:srgbClr val="104A38"/>
          </a:solidFill>
          <a:ln w="12700">
            <a:solidFill>
              <a:srgbClr val="104A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7726680" y="3246120"/>
            <a:ext cx="2377080" cy="2377080"/>
          </a:xfrm>
          <a:prstGeom prst="ellipse">
            <a:avLst/>
          </a:prstGeom>
          <a:solidFill>
            <a:srgbClr val="104A38"/>
          </a:solidFill>
          <a:ln w="12700">
            <a:solidFill>
              <a:srgbClr val="104A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Text 2"/>
          <p:cNvSpPr/>
          <p:nvPr/>
        </p:nvSpPr>
        <p:spPr>
          <a:xfrm>
            <a:off x="685800" y="1051560"/>
            <a:ext cx="65833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300" strike="noStrike">
                <a:solidFill>
                  <a:srgbClr val="E4B33C"/>
                </a:solidFill>
                <a:effectLst/>
                <a:uFillTx/>
                <a:latin typeface="Calibri"/>
                <a:ea typeface="Calibri"/>
              </a:rPr>
              <a:t>FIFA WORLD CUP 2026</a:t>
            </a:r>
            <a:endParaRPr lang="en-US" sz="1400" b="0" u="none" strike="noStrike">
              <a:solidFill>
                <a:srgbClr val="FFFFFF"/>
              </a:solidFill>
              <a:effectLst/>
              <a:uFillTx/>
              <a:latin typeface="Arial"/>
            </a:endParaRPr>
          </a:p>
        </p:txBody>
      </p:sp>
      <p:sp>
        <p:nvSpPr>
          <p:cNvPr id="13" name="Text 3"/>
          <p:cNvSpPr/>
          <p:nvPr/>
        </p:nvSpPr>
        <p:spPr>
          <a:xfrm>
            <a:off x="685800" y="1463040"/>
            <a:ext cx="69490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FFFFFF"/>
                </a:solidFill>
                <a:effectLst/>
                <a:uFillTx/>
                <a:latin typeface="Cambria"/>
                <a:ea typeface="Cambria"/>
              </a:rPr>
              <a:t>The Last Line of Defence</a:t>
            </a:r>
            <a:endParaRPr lang="en-US" sz="4000" b="0" u="none" strike="noStrike">
              <a:solidFill>
                <a:srgbClr val="FFFFFF"/>
              </a:solidFill>
              <a:effectLst/>
              <a:uFillTx/>
              <a:latin typeface="Arial"/>
            </a:endParaRPr>
          </a:p>
        </p:txBody>
      </p:sp>
      <p:sp>
        <p:nvSpPr>
          <p:cNvPr id="14" name="Text 4"/>
          <p:cNvSpPr/>
          <p:nvPr/>
        </p:nvSpPr>
        <p:spPr>
          <a:xfrm>
            <a:off x="685800" y="2286000"/>
            <a:ext cx="67662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DF2EF"/>
                </a:solidFill>
                <a:effectLst/>
                <a:uFillTx/>
                <a:latin typeface="Calibri"/>
                <a:ea typeface="Calibri"/>
              </a:rPr>
              <a:t>A statistical profile of the 62 goalkeepers who took the field</a:t>
            </a:r>
            <a:endParaRPr lang="en-US" sz="1500" b="0" u="none" strike="noStrike">
              <a:solidFill>
                <a:srgbClr val="FFFFFF"/>
              </a:solidFill>
              <a:effectLst/>
              <a:uFillTx/>
              <a:latin typeface="Arial"/>
            </a:endParaRPr>
          </a:p>
        </p:txBody>
      </p:sp>
      <p:sp>
        <p:nvSpPr>
          <p:cNvPr id="15" name="Text 5"/>
          <p:cNvSpPr/>
          <p:nvPr/>
        </p:nvSpPr>
        <p:spPr>
          <a:xfrm>
            <a:off x="685800" y="3017520"/>
            <a:ext cx="14626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E4B33C"/>
                </a:solidFill>
                <a:effectLst/>
                <a:uFillTx/>
                <a:latin typeface="Cambria"/>
                <a:ea typeface="Cambria"/>
              </a:rPr>
              <a:t>62</a:t>
            </a:r>
            <a:endParaRPr lang="en-US" sz="3000" b="0" u="none" strike="noStrike">
              <a:solidFill>
                <a:srgbClr val="FFFFFF"/>
              </a:solidFill>
              <a:effectLst/>
              <a:uFillTx/>
              <a:latin typeface="Arial"/>
            </a:endParaRPr>
          </a:p>
        </p:txBody>
      </p:sp>
      <p:sp>
        <p:nvSpPr>
          <p:cNvPr id="16" name="Text 6"/>
          <p:cNvSpPr/>
          <p:nvPr/>
        </p:nvSpPr>
        <p:spPr>
          <a:xfrm>
            <a:off x="685800" y="3566160"/>
            <a:ext cx="1645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EDF2EF"/>
                </a:solidFill>
                <a:effectLst/>
                <a:uFillTx/>
                <a:latin typeface="Calibri"/>
                <a:ea typeface="Calibri"/>
              </a:rPr>
              <a:t>goalkeepers</a:t>
            </a:r>
            <a:endParaRPr lang="en-US" sz="1150" b="0" u="none" strike="noStrike">
              <a:solidFill>
                <a:srgbClr val="FFFFFF"/>
              </a:solidFill>
              <a:effectLst/>
              <a:uFillTx/>
              <a:latin typeface="Arial"/>
            </a:endParaRPr>
          </a:p>
        </p:txBody>
      </p:sp>
      <p:sp>
        <p:nvSpPr>
          <p:cNvPr id="17" name="Text 7"/>
          <p:cNvSpPr/>
          <p:nvPr/>
        </p:nvSpPr>
        <p:spPr>
          <a:xfrm>
            <a:off x="2514600" y="3017520"/>
            <a:ext cx="14626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E4B33C"/>
                </a:solidFill>
                <a:effectLst/>
                <a:uFillTx/>
                <a:latin typeface="Cambria"/>
                <a:ea typeface="Cambria"/>
              </a:rPr>
              <a:t>48</a:t>
            </a:r>
            <a:endParaRPr lang="en-US" sz="3000" b="0" u="none" strike="noStrike">
              <a:solidFill>
                <a:srgbClr val="FFFFFF"/>
              </a:solidFill>
              <a:effectLst/>
              <a:uFillTx/>
              <a:latin typeface="Arial"/>
            </a:endParaRPr>
          </a:p>
        </p:txBody>
      </p:sp>
      <p:sp>
        <p:nvSpPr>
          <p:cNvPr id="18" name="Text 8"/>
          <p:cNvSpPr/>
          <p:nvPr/>
        </p:nvSpPr>
        <p:spPr>
          <a:xfrm>
            <a:off x="2514600" y="3566160"/>
            <a:ext cx="1645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EDF2EF"/>
                </a:solidFill>
                <a:effectLst/>
                <a:uFillTx/>
                <a:latin typeface="Calibri"/>
                <a:ea typeface="Calibri"/>
              </a:rPr>
              <a:t>nations</a:t>
            </a:r>
            <a:endParaRPr lang="en-US" sz="1150" b="0" u="none" strike="noStrike">
              <a:solidFill>
                <a:srgbClr val="FFFFFF"/>
              </a:solidFill>
              <a:effectLst/>
              <a:uFillTx/>
              <a:latin typeface="Arial"/>
            </a:endParaRPr>
          </a:p>
        </p:txBody>
      </p:sp>
      <p:sp>
        <p:nvSpPr>
          <p:cNvPr id="19" name="Text 9"/>
          <p:cNvSpPr/>
          <p:nvPr/>
        </p:nvSpPr>
        <p:spPr>
          <a:xfrm>
            <a:off x="4343400" y="3017520"/>
            <a:ext cx="14626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E4B33C"/>
                </a:solidFill>
                <a:effectLst/>
                <a:uFillTx/>
                <a:latin typeface="Cambria"/>
                <a:ea typeface="Cambria"/>
              </a:rPr>
              <a:t>3</a:t>
            </a:r>
            <a:endParaRPr lang="en-US" sz="3000" b="0" u="none" strike="noStrike">
              <a:solidFill>
                <a:srgbClr val="FFFFFF"/>
              </a:solidFill>
              <a:effectLst/>
              <a:uFillTx/>
              <a:latin typeface="Arial"/>
            </a:endParaRPr>
          </a:p>
        </p:txBody>
      </p:sp>
      <p:sp>
        <p:nvSpPr>
          <p:cNvPr id="20" name="Text 10"/>
          <p:cNvSpPr/>
          <p:nvPr/>
        </p:nvSpPr>
        <p:spPr>
          <a:xfrm>
            <a:off x="4343400" y="3566160"/>
            <a:ext cx="1645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EDF2EF"/>
                </a:solidFill>
                <a:effectLst/>
                <a:uFillTx/>
                <a:latin typeface="Calibri"/>
                <a:ea typeface="Calibri"/>
              </a:rPr>
              <a:t>analytic tasks</a:t>
            </a:r>
            <a:endParaRPr lang="en-US" sz="1150" b="0" u="none" strike="noStrike">
              <a:solidFill>
                <a:srgbClr val="FFFFFF"/>
              </a:solidFill>
              <a:effectLst/>
              <a:uFillTx/>
              <a:latin typeface="Arial"/>
            </a:endParaRPr>
          </a:p>
        </p:txBody>
      </p:sp>
      <p:sp>
        <p:nvSpPr>
          <p:cNvPr id="21" name="Text 11"/>
          <p:cNvSpPr/>
          <p:nvPr/>
        </p:nvSpPr>
        <p:spPr>
          <a:xfrm>
            <a:off x="685800" y="4343400"/>
            <a:ext cx="7772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FB8AC"/>
                </a:solidFill>
                <a:effectLst/>
                <a:uFillTx/>
                <a:latin typeface="Calibri"/>
                <a:ea typeface="Calibri"/>
              </a:rPr>
              <a:t>Data wrangling, descriptive &amp; inferential statistics in Python  |  Group Project</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Shape 0"/>
          <p:cNvSpPr/>
          <p:nvPr/>
        </p:nvSpPr>
        <p:spPr>
          <a:xfrm>
            <a:off x="457200" y="255960"/>
            <a:ext cx="475200" cy="475200"/>
          </a:xfrm>
          <a:prstGeom prst="ellipse">
            <a:avLst/>
          </a:prstGeom>
          <a:solidFill>
            <a:srgbClr val="0B3D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 name="Text 1"/>
          <p:cNvSpPr/>
          <p:nvPr/>
        </p:nvSpPr>
        <p:spPr>
          <a:xfrm>
            <a:off x="457200" y="255960"/>
            <a:ext cx="475200" cy="47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E4B33C"/>
                </a:solidFill>
                <a:effectLst/>
                <a:uFillTx/>
                <a:latin typeface="Cambria"/>
                <a:ea typeface="Cambria"/>
              </a:rPr>
              <a:t>D</a:t>
            </a:r>
            <a:endParaRPr lang="en-US" sz="2200" b="0" u="none" strike="noStrike">
              <a:solidFill>
                <a:srgbClr val="000000"/>
              </a:solidFill>
              <a:effectLst/>
              <a:uFillTx/>
              <a:latin typeface="Arial"/>
            </a:endParaRPr>
          </a:p>
        </p:txBody>
      </p:sp>
      <p:sp>
        <p:nvSpPr>
          <p:cNvPr id="24" name="Text 2"/>
          <p:cNvSpPr/>
          <p:nvPr/>
        </p:nvSpPr>
        <p:spPr>
          <a:xfrm>
            <a:off x="1051560" y="219600"/>
            <a:ext cx="7680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3D2E"/>
                </a:solidFill>
                <a:effectLst/>
                <a:uFillTx/>
                <a:latin typeface="Cambria"/>
                <a:ea typeface="Cambria"/>
              </a:rPr>
              <a:t>From raw file to analysis-ready data</a:t>
            </a:r>
            <a:endParaRPr lang="en-US" sz="2800" b="0" u="none" strike="noStrike">
              <a:solidFill>
                <a:srgbClr val="000000"/>
              </a:solidFill>
              <a:effectLst/>
              <a:uFillTx/>
              <a:latin typeface="Arial"/>
            </a:endParaRPr>
          </a:p>
        </p:txBody>
      </p:sp>
      <p:sp>
        <p:nvSpPr>
          <p:cNvPr id="25" name="Text 3"/>
          <p:cNvSpPr/>
          <p:nvPr/>
        </p:nvSpPr>
        <p:spPr>
          <a:xfrm>
            <a:off x="1051560" y="694800"/>
            <a:ext cx="76806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i="1" u="none" strike="noStrike">
                <a:solidFill>
                  <a:srgbClr val="5A6068"/>
                </a:solidFill>
                <a:effectLst/>
                <a:uFillTx/>
                <a:latin typeface="Calibri"/>
                <a:ea typeface="Calibri"/>
              </a:rPr>
              <a:t>One CSV -&gt; audit -&gt; clean -&gt; validate -&gt; engineer features -&gt; sample. Fixed random seed = fully reproducible.</a:t>
            </a:r>
            <a:endParaRPr lang="en-US" sz="1250" b="0" u="none" strike="noStrike">
              <a:solidFill>
                <a:srgbClr val="000000"/>
              </a:solidFill>
              <a:effectLst/>
              <a:uFillTx/>
              <a:latin typeface="Arial"/>
            </a:endParaRPr>
          </a:p>
        </p:txBody>
      </p:sp>
      <p:sp>
        <p:nvSpPr>
          <p:cNvPr id="26" name="Shape 4"/>
          <p:cNvSpPr/>
          <p:nvPr/>
        </p:nvSpPr>
        <p:spPr>
          <a:xfrm>
            <a:off x="457200" y="1170360"/>
            <a:ext cx="1919880" cy="1188360"/>
          </a:xfrm>
          <a:prstGeom prst="roundRect">
            <a:avLst>
              <a:gd name="adj" fmla="val 6154"/>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Text 5"/>
          <p:cNvSpPr/>
          <p:nvPr/>
        </p:nvSpPr>
        <p:spPr>
          <a:xfrm>
            <a:off x="585360" y="1243440"/>
            <a:ext cx="1691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3D2E"/>
                </a:solidFill>
                <a:effectLst/>
                <a:uFillTx/>
                <a:latin typeface="Cambria"/>
                <a:ea typeface="Cambria"/>
              </a:rPr>
              <a:t>1. Audit</a:t>
            </a:r>
            <a:endParaRPr lang="en-US" sz="1400" b="0" u="none" strike="noStrike">
              <a:solidFill>
                <a:srgbClr val="000000"/>
              </a:solidFill>
              <a:effectLst/>
              <a:uFillTx/>
              <a:latin typeface="Arial"/>
            </a:endParaRPr>
          </a:p>
        </p:txBody>
      </p:sp>
      <p:sp>
        <p:nvSpPr>
          <p:cNvPr id="28" name="Text 6"/>
          <p:cNvSpPr/>
          <p:nvPr/>
        </p:nvSpPr>
        <p:spPr>
          <a:xfrm>
            <a:off x="585360" y="1517760"/>
            <a:ext cx="1691280" cy="776880"/>
          </a:xfrm>
          <a:prstGeom prst="rect">
            <a:avLst/>
          </a:prstGeom>
          <a:noFill/>
          <a:ln w="0">
            <a:noFill/>
          </a:ln>
        </p:spPr>
        <p:style>
          <a:lnRef idx="0"/>
          <a:fillRef idx="0"/>
          <a:effectRef idx="0"/>
          <a:fontRef idx="minor"/>
        </p:style>
        <p:txBody>
          <a:bodyPr lIns="0" tIns="0" rIns="0" bIns="0" anchor="ctr">
            <a:noAutofit/>
          </a:bodyPr>
          <a:p>
            <a:pPr defTabSz="914400">
              <a:lnSpc>
                <a:spcPts val="1199"/>
              </a:lnSpc>
              <a:tabLst>
                <a:tab pos="0" algn="l"/>
              </a:tabLst>
            </a:pPr>
            <a:r>
              <a:rPr lang="en-US" sz="950" b="0" u="none" strike="noStrike">
                <a:solidFill>
                  <a:srgbClr val="5A6068"/>
                </a:solidFill>
                <a:effectLst/>
                <a:uFillTx/>
                <a:latin typeface="Calibri"/>
                <a:ea typeface="Calibri"/>
              </a:rPr>
              <a:t>62 rows, 28 columns.</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Missing Save% is structurally</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undefined, not an error.</a:t>
            </a:r>
            <a:endParaRPr lang="en-US" sz="950" b="0" u="none" strike="noStrike">
              <a:solidFill>
                <a:srgbClr val="000000"/>
              </a:solidFill>
              <a:effectLst/>
              <a:uFillTx/>
              <a:latin typeface="Arial"/>
            </a:endParaRPr>
          </a:p>
        </p:txBody>
      </p:sp>
      <p:sp>
        <p:nvSpPr>
          <p:cNvPr id="29" name="Shape 7"/>
          <p:cNvSpPr/>
          <p:nvPr/>
        </p:nvSpPr>
        <p:spPr>
          <a:xfrm>
            <a:off x="2587680" y="1206360"/>
            <a:ext cx="1919880" cy="1188360"/>
          </a:xfrm>
          <a:prstGeom prst="roundRect">
            <a:avLst>
              <a:gd name="adj" fmla="val 6154"/>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 name="Text 8"/>
          <p:cNvSpPr/>
          <p:nvPr/>
        </p:nvSpPr>
        <p:spPr>
          <a:xfrm>
            <a:off x="2715840" y="1243440"/>
            <a:ext cx="1691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3D2E"/>
                </a:solidFill>
                <a:effectLst/>
                <a:uFillTx/>
                <a:latin typeface="Cambria"/>
                <a:ea typeface="Cambria"/>
              </a:rPr>
              <a:t>2. Clean</a:t>
            </a:r>
            <a:endParaRPr lang="en-US" sz="1400" b="0" u="none" strike="noStrike">
              <a:solidFill>
                <a:srgbClr val="000000"/>
              </a:solidFill>
              <a:effectLst/>
              <a:uFillTx/>
              <a:latin typeface="Arial"/>
            </a:endParaRPr>
          </a:p>
        </p:txBody>
      </p:sp>
      <p:sp>
        <p:nvSpPr>
          <p:cNvPr id="31" name="Text 9"/>
          <p:cNvSpPr/>
          <p:nvPr/>
        </p:nvSpPr>
        <p:spPr>
          <a:xfrm>
            <a:off x="2715840" y="1517760"/>
            <a:ext cx="1691280" cy="776880"/>
          </a:xfrm>
          <a:prstGeom prst="rect">
            <a:avLst/>
          </a:prstGeom>
          <a:noFill/>
          <a:ln w="0">
            <a:noFill/>
          </a:ln>
        </p:spPr>
        <p:style>
          <a:lnRef idx="0"/>
          <a:fillRef idx="0"/>
          <a:effectRef idx="0"/>
          <a:fontRef idx="minor"/>
        </p:style>
        <p:txBody>
          <a:bodyPr lIns="0" tIns="0" rIns="0" bIns="0" anchor="ctr">
            <a:noAutofit/>
          </a:bodyPr>
          <a:p>
            <a:pPr defTabSz="914400">
              <a:lnSpc>
                <a:spcPts val="1199"/>
              </a:lnSpc>
              <a:tabLst>
                <a:tab pos="0" algn="l"/>
              </a:tabLst>
            </a:pPr>
            <a:r>
              <a:rPr lang="en-US" sz="950" b="0" u="none" strike="noStrike">
                <a:solidFill>
                  <a:srgbClr val="5A6068"/>
                </a:solidFill>
                <a:effectLst/>
                <a:uFillTx/>
                <a:latin typeface="Calibri"/>
                <a:ea typeface="Calibri"/>
              </a:rPr>
              <a:t>Types, whitespace, duplicates,</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logical range checks</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(all passed).</a:t>
            </a:r>
            <a:endParaRPr lang="en-US" sz="950" b="0" u="none" strike="noStrike">
              <a:solidFill>
                <a:srgbClr val="000000"/>
              </a:solidFill>
              <a:effectLst/>
              <a:uFillTx/>
              <a:latin typeface="Arial"/>
            </a:endParaRPr>
          </a:p>
        </p:txBody>
      </p:sp>
      <p:sp>
        <p:nvSpPr>
          <p:cNvPr id="32" name="Shape 10"/>
          <p:cNvSpPr/>
          <p:nvPr/>
        </p:nvSpPr>
        <p:spPr>
          <a:xfrm>
            <a:off x="4718160" y="1170360"/>
            <a:ext cx="1919880" cy="1188360"/>
          </a:xfrm>
          <a:prstGeom prst="roundRect">
            <a:avLst>
              <a:gd name="adj" fmla="val 6154"/>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Text 11"/>
          <p:cNvSpPr/>
          <p:nvPr/>
        </p:nvSpPr>
        <p:spPr>
          <a:xfrm>
            <a:off x="4846320" y="1243440"/>
            <a:ext cx="1691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3D2E"/>
                </a:solidFill>
                <a:effectLst/>
                <a:uFillTx/>
                <a:latin typeface="Cambria"/>
                <a:ea typeface="Cambria"/>
              </a:rPr>
              <a:t>3. Validate</a:t>
            </a:r>
            <a:endParaRPr lang="en-US" sz="1400" b="0" u="none" strike="noStrike">
              <a:solidFill>
                <a:srgbClr val="000000"/>
              </a:solidFill>
              <a:effectLst/>
              <a:uFillTx/>
              <a:latin typeface="Arial"/>
            </a:endParaRPr>
          </a:p>
        </p:txBody>
      </p:sp>
      <p:sp>
        <p:nvSpPr>
          <p:cNvPr id="34" name="Text 12"/>
          <p:cNvSpPr/>
          <p:nvPr/>
        </p:nvSpPr>
        <p:spPr>
          <a:xfrm>
            <a:off x="4846320" y="1517760"/>
            <a:ext cx="1691280" cy="776880"/>
          </a:xfrm>
          <a:prstGeom prst="rect">
            <a:avLst/>
          </a:prstGeom>
          <a:noFill/>
          <a:ln w="0">
            <a:noFill/>
          </a:ln>
        </p:spPr>
        <p:style>
          <a:lnRef idx="0"/>
          <a:fillRef idx="0"/>
          <a:effectRef idx="0"/>
          <a:fontRef idx="minor"/>
        </p:style>
        <p:txBody>
          <a:bodyPr lIns="0" tIns="0" rIns="0" bIns="0" anchor="ctr">
            <a:noAutofit/>
          </a:bodyPr>
          <a:p>
            <a:pPr defTabSz="914400">
              <a:lnSpc>
                <a:spcPts val="1199"/>
              </a:lnSpc>
              <a:tabLst>
                <a:tab pos="0" algn="l"/>
              </a:tabLst>
            </a:pPr>
            <a:r>
              <a:rPr lang="en-US" sz="950" b="0" u="none" strike="noStrike">
                <a:solidFill>
                  <a:srgbClr val="5A6068"/>
                </a:solidFill>
                <a:effectLst/>
                <a:uFillTx/>
                <a:latin typeface="Calibri"/>
                <a:ea typeface="Calibri"/>
              </a:rPr>
              <a:t>Save% re-derived as</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(SoTA - GA) / SoTA:</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matches to 0.05 pp.</a:t>
            </a:r>
            <a:endParaRPr lang="en-US" sz="950" b="0" u="none" strike="noStrike">
              <a:solidFill>
                <a:srgbClr val="000000"/>
              </a:solidFill>
              <a:effectLst/>
              <a:uFillTx/>
              <a:latin typeface="Arial"/>
            </a:endParaRPr>
          </a:p>
        </p:txBody>
      </p:sp>
      <p:sp>
        <p:nvSpPr>
          <p:cNvPr id="35" name="Shape 13"/>
          <p:cNvSpPr/>
          <p:nvPr/>
        </p:nvSpPr>
        <p:spPr>
          <a:xfrm>
            <a:off x="6849000" y="1170360"/>
            <a:ext cx="1919880" cy="1188360"/>
          </a:xfrm>
          <a:prstGeom prst="roundRect">
            <a:avLst>
              <a:gd name="adj" fmla="val 6154"/>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Text 14"/>
          <p:cNvSpPr/>
          <p:nvPr/>
        </p:nvSpPr>
        <p:spPr>
          <a:xfrm>
            <a:off x="6976800" y="1243440"/>
            <a:ext cx="1691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3D2E"/>
                </a:solidFill>
                <a:effectLst/>
                <a:uFillTx/>
                <a:latin typeface="Cambria"/>
                <a:ea typeface="Cambria"/>
              </a:rPr>
              <a:t>4. Engineer</a:t>
            </a:r>
            <a:endParaRPr lang="en-US" sz="1400" b="0" u="none" strike="noStrike">
              <a:solidFill>
                <a:srgbClr val="000000"/>
              </a:solidFill>
              <a:effectLst/>
              <a:uFillTx/>
              <a:latin typeface="Arial"/>
            </a:endParaRPr>
          </a:p>
        </p:txBody>
      </p:sp>
      <p:sp>
        <p:nvSpPr>
          <p:cNvPr id="37" name="Text 15"/>
          <p:cNvSpPr/>
          <p:nvPr/>
        </p:nvSpPr>
        <p:spPr>
          <a:xfrm>
            <a:off x="6976800" y="1517760"/>
            <a:ext cx="1691280" cy="776880"/>
          </a:xfrm>
          <a:prstGeom prst="rect">
            <a:avLst/>
          </a:prstGeom>
          <a:noFill/>
          <a:ln w="0">
            <a:noFill/>
          </a:ln>
        </p:spPr>
        <p:style>
          <a:lnRef idx="0"/>
          <a:fillRef idx="0"/>
          <a:effectRef idx="0"/>
          <a:fontRef idx="minor"/>
        </p:style>
        <p:txBody>
          <a:bodyPr lIns="0" tIns="0" rIns="0" bIns="0" anchor="ctr">
            <a:noAutofit/>
          </a:bodyPr>
          <a:p>
            <a:pPr defTabSz="914400">
              <a:lnSpc>
                <a:spcPts val="1199"/>
              </a:lnSpc>
              <a:tabLst>
                <a:tab pos="0" algn="l"/>
              </a:tabLst>
            </a:pPr>
            <a:r>
              <a:rPr lang="en-US" sz="950" b="0" u="none" strike="noStrike">
                <a:solidFill>
                  <a:srgbClr val="5A6068"/>
                </a:solidFill>
                <a:effectLst/>
                <a:uFillTx/>
                <a:latin typeface="Calibri"/>
                <a:ea typeface="Calibri"/>
              </a:rPr>
              <a:t>SoTA90, confederation,</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stage reached, eligibility</a:t>
            </a:r>
            <a:endParaRPr lang="en-US" sz="950" b="0" u="none" strike="noStrike">
              <a:solidFill>
                <a:srgbClr val="000000"/>
              </a:solidFill>
              <a:effectLst/>
              <a:uFillTx/>
              <a:latin typeface="Arial"/>
            </a:endParaRPr>
          </a:p>
          <a:p>
            <a:pPr defTabSz="914400">
              <a:lnSpc>
                <a:spcPts val="1199"/>
              </a:lnSpc>
              <a:tabLst>
                <a:tab pos="0" algn="l"/>
              </a:tabLst>
            </a:pPr>
            <a:r>
              <a:rPr lang="en-US" sz="950" b="0" u="none" strike="noStrike">
                <a:solidFill>
                  <a:srgbClr val="5A6068"/>
                </a:solidFill>
                <a:effectLst/>
                <a:uFillTx/>
                <a:latin typeface="Calibri"/>
                <a:ea typeface="Calibri"/>
              </a:rPr>
              <a:t>flags for each task.</a:t>
            </a:r>
            <a:endParaRPr lang="en-US" sz="950" b="0" u="none" strike="noStrike">
              <a:solidFill>
                <a:srgbClr val="000000"/>
              </a:solidFill>
              <a:effectLst/>
              <a:uFillTx/>
              <a:latin typeface="Arial"/>
            </a:endParaRPr>
          </a:p>
        </p:txBody>
      </p:sp>
      <p:pic>
        <p:nvPicPr>
          <p:cNvPr id="38" name="Image 0" descr="figures/fig0_data_overview.png"/>
          <p:cNvPicPr/>
          <p:nvPr/>
        </p:nvPicPr>
        <p:blipFill>
          <a:blip r:embed="rId1"/>
          <a:stretch/>
        </p:blipFill>
        <p:spPr>
          <a:xfrm>
            <a:off x="548640" y="2541960"/>
            <a:ext cx="8046360" cy="21484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Shape 0"/>
          <p:cNvSpPr/>
          <p:nvPr/>
        </p:nvSpPr>
        <p:spPr>
          <a:xfrm>
            <a:off x="457200" y="255960"/>
            <a:ext cx="475200" cy="475200"/>
          </a:xfrm>
          <a:prstGeom prst="ellipse">
            <a:avLst/>
          </a:prstGeom>
          <a:solidFill>
            <a:srgbClr val="E4B33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Text 1"/>
          <p:cNvSpPr/>
          <p:nvPr/>
        </p:nvSpPr>
        <p:spPr>
          <a:xfrm>
            <a:off x="457200" y="255960"/>
            <a:ext cx="475200" cy="47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1</a:t>
            </a:r>
            <a:endParaRPr lang="en-US" sz="2200" b="0" u="none" strike="noStrike">
              <a:solidFill>
                <a:srgbClr val="000000"/>
              </a:solidFill>
              <a:effectLst/>
              <a:uFillTx/>
              <a:latin typeface="Arial"/>
            </a:endParaRPr>
          </a:p>
        </p:txBody>
      </p:sp>
      <p:sp>
        <p:nvSpPr>
          <p:cNvPr id="41" name="Text 2"/>
          <p:cNvSpPr/>
          <p:nvPr/>
        </p:nvSpPr>
        <p:spPr>
          <a:xfrm>
            <a:off x="1051560" y="219600"/>
            <a:ext cx="7680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3D2E"/>
                </a:solidFill>
                <a:effectLst/>
                <a:uFillTx/>
                <a:latin typeface="Cambria"/>
                <a:ea typeface="Cambria"/>
              </a:rPr>
              <a:t>Shot-stopping efficiency</a:t>
            </a:r>
            <a:endParaRPr lang="en-US" sz="2800" b="0" u="none" strike="noStrike">
              <a:solidFill>
                <a:srgbClr val="000000"/>
              </a:solidFill>
              <a:effectLst/>
              <a:uFillTx/>
              <a:latin typeface="Arial"/>
            </a:endParaRPr>
          </a:p>
        </p:txBody>
      </p:sp>
      <p:sp>
        <p:nvSpPr>
          <p:cNvPr id="42" name="Text 3"/>
          <p:cNvSpPr/>
          <p:nvPr/>
        </p:nvSpPr>
        <p:spPr>
          <a:xfrm>
            <a:off x="1051560" y="694800"/>
            <a:ext cx="76806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i="1" u="none" strike="noStrike">
                <a:solidFill>
                  <a:srgbClr val="5A6068"/>
                </a:solidFill>
                <a:effectLst/>
                <a:uFillTx/>
                <a:latin typeface="Calibri"/>
                <a:ea typeface="Calibri"/>
              </a:rPr>
              <a:t>Q1: What share of shots on target do keepers save - and do keepers of teams that reach the knockout stage save more?  Stratified sample, n = 36.</a:t>
            </a:r>
            <a:endParaRPr lang="en-US" sz="1250" b="0" u="none" strike="noStrike">
              <a:solidFill>
                <a:srgbClr val="000000"/>
              </a:solidFill>
              <a:effectLst/>
              <a:uFillTx/>
              <a:latin typeface="Arial"/>
            </a:endParaRPr>
          </a:p>
        </p:txBody>
      </p:sp>
      <p:pic>
        <p:nvPicPr>
          <p:cNvPr id="43" name="Image 0" descr="figures/fig1_save_percentage.png"/>
          <p:cNvPicPr/>
          <p:nvPr/>
        </p:nvPicPr>
        <p:blipFill>
          <a:blip r:embed="rId1"/>
          <a:stretch/>
        </p:blipFill>
        <p:spPr>
          <a:xfrm>
            <a:off x="457200" y="1170360"/>
            <a:ext cx="8229240" cy="2468520"/>
          </a:xfrm>
          <a:prstGeom prst="rect">
            <a:avLst/>
          </a:prstGeom>
          <a:noFill/>
          <a:ln w="0">
            <a:noFill/>
          </a:ln>
        </p:spPr>
      </p:pic>
      <p:sp>
        <p:nvSpPr>
          <p:cNvPr id="44" name="Shape 4"/>
          <p:cNvSpPr/>
          <p:nvPr/>
        </p:nvSpPr>
        <p:spPr>
          <a:xfrm>
            <a:off x="45720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 name="Text 5"/>
          <p:cNvSpPr/>
          <p:nvPr/>
        </p:nvSpPr>
        <p:spPr>
          <a:xfrm>
            <a:off x="45720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63.6%</a:t>
            </a:r>
            <a:endParaRPr lang="en-US" sz="2200" b="0" u="none" strike="noStrike">
              <a:solidFill>
                <a:srgbClr val="000000"/>
              </a:solidFill>
              <a:effectLst/>
              <a:uFillTx/>
              <a:latin typeface="Arial"/>
            </a:endParaRPr>
          </a:p>
        </p:txBody>
      </p:sp>
      <p:sp>
        <p:nvSpPr>
          <p:cNvPr id="46" name="Text 6"/>
          <p:cNvSpPr/>
          <p:nvPr/>
        </p:nvSpPr>
        <p:spPr>
          <a:xfrm>
            <a:off x="45720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mean save percentage</a:t>
            </a:r>
            <a:endParaRPr lang="en-US" sz="1050" b="0" u="none" strike="noStrike">
              <a:solidFill>
                <a:srgbClr val="000000"/>
              </a:solidFill>
              <a:effectLst/>
              <a:uFillTx/>
              <a:latin typeface="Arial"/>
            </a:endParaRPr>
          </a:p>
        </p:txBody>
      </p:sp>
      <p:sp>
        <p:nvSpPr>
          <p:cNvPr id="47" name="Shape 7"/>
          <p:cNvSpPr/>
          <p:nvPr/>
        </p:nvSpPr>
        <p:spPr>
          <a:xfrm>
            <a:off x="258336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 name="Text 8"/>
          <p:cNvSpPr/>
          <p:nvPr/>
        </p:nvSpPr>
        <p:spPr>
          <a:xfrm>
            <a:off x="258336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58.4 – 68.8%</a:t>
            </a:r>
            <a:endParaRPr lang="en-US" sz="2200" b="0" u="none" strike="noStrike">
              <a:solidFill>
                <a:srgbClr val="000000"/>
              </a:solidFill>
              <a:effectLst/>
              <a:uFillTx/>
              <a:latin typeface="Arial"/>
            </a:endParaRPr>
          </a:p>
        </p:txBody>
      </p:sp>
      <p:sp>
        <p:nvSpPr>
          <p:cNvPr id="49" name="Text 9"/>
          <p:cNvSpPr/>
          <p:nvPr/>
        </p:nvSpPr>
        <p:spPr>
          <a:xfrm>
            <a:off x="258336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95% confidence interval</a:t>
            </a:r>
            <a:endParaRPr lang="en-US" sz="1050" b="0" u="none" strike="noStrike">
              <a:solidFill>
                <a:srgbClr val="000000"/>
              </a:solidFill>
              <a:effectLst/>
              <a:uFillTx/>
              <a:latin typeface="Arial"/>
            </a:endParaRPr>
          </a:p>
        </p:txBody>
      </p:sp>
      <p:sp>
        <p:nvSpPr>
          <p:cNvPr id="50" name="Shape 10"/>
          <p:cNvSpPr/>
          <p:nvPr/>
        </p:nvSpPr>
        <p:spPr>
          <a:xfrm>
            <a:off x="470916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Text 11"/>
          <p:cNvSpPr/>
          <p:nvPr/>
        </p:nvSpPr>
        <p:spPr>
          <a:xfrm>
            <a:off x="470916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3D2E"/>
                </a:solidFill>
                <a:effectLst/>
                <a:uFillTx/>
                <a:latin typeface="Cambria"/>
                <a:ea typeface="Cambria"/>
              </a:rPr>
              <a:t>70.5% vs 56.8%</a:t>
            </a:r>
            <a:endParaRPr lang="en-US" sz="1700" b="0" u="none" strike="noStrike">
              <a:solidFill>
                <a:srgbClr val="000000"/>
              </a:solidFill>
              <a:effectLst/>
              <a:uFillTx/>
              <a:latin typeface="Arial"/>
            </a:endParaRPr>
          </a:p>
        </p:txBody>
      </p:sp>
      <p:sp>
        <p:nvSpPr>
          <p:cNvPr id="52" name="Text 12"/>
          <p:cNvSpPr/>
          <p:nvPr/>
        </p:nvSpPr>
        <p:spPr>
          <a:xfrm>
            <a:off x="470916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knockout vs group stage</a:t>
            </a:r>
            <a:endParaRPr lang="en-US" sz="1050" b="0" u="none" strike="noStrike">
              <a:solidFill>
                <a:srgbClr val="000000"/>
              </a:solidFill>
              <a:effectLst/>
              <a:uFillTx/>
              <a:latin typeface="Arial"/>
            </a:endParaRPr>
          </a:p>
        </p:txBody>
      </p:sp>
      <p:sp>
        <p:nvSpPr>
          <p:cNvPr id="53" name="Shape 13"/>
          <p:cNvSpPr/>
          <p:nvPr/>
        </p:nvSpPr>
        <p:spPr>
          <a:xfrm>
            <a:off x="6835320" y="3913560"/>
            <a:ext cx="1851480" cy="868320"/>
          </a:xfrm>
          <a:prstGeom prst="roundRect">
            <a:avLst>
              <a:gd name="adj" fmla="val 8421"/>
            </a:avLst>
          </a:prstGeom>
          <a:solidFill>
            <a:srgbClr val="0B3D2E"/>
          </a:solidFill>
          <a:ln w="12700">
            <a:solidFill>
              <a:srgbClr val="0B3D2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 name="Text 14"/>
          <p:cNvSpPr/>
          <p:nvPr/>
        </p:nvSpPr>
        <p:spPr>
          <a:xfrm>
            <a:off x="683532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E4B33C"/>
                </a:solidFill>
                <a:effectLst/>
                <a:uFillTx/>
                <a:latin typeface="Cambria"/>
                <a:ea typeface="Cambria"/>
              </a:rPr>
              <a:t>p = 0.006</a:t>
            </a:r>
            <a:endParaRPr lang="en-US" sz="2200" b="0" u="none" strike="noStrike">
              <a:solidFill>
                <a:srgbClr val="000000"/>
              </a:solidFill>
              <a:effectLst/>
              <a:uFillTx/>
              <a:latin typeface="Arial"/>
            </a:endParaRPr>
          </a:p>
        </p:txBody>
      </p:sp>
      <p:sp>
        <p:nvSpPr>
          <p:cNvPr id="55" name="Text 15"/>
          <p:cNvSpPr/>
          <p:nvPr/>
        </p:nvSpPr>
        <p:spPr>
          <a:xfrm>
            <a:off x="683532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FFFFFF"/>
                </a:solidFill>
                <a:effectLst/>
                <a:uFillTx/>
                <a:latin typeface="Calibri"/>
                <a:ea typeface="Calibri"/>
              </a:rPr>
              <a:t>reject H0  ·  d = 0.98 (large)</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Shape 0"/>
          <p:cNvSpPr/>
          <p:nvPr/>
        </p:nvSpPr>
        <p:spPr>
          <a:xfrm>
            <a:off x="457200" y="255960"/>
            <a:ext cx="475200" cy="475200"/>
          </a:xfrm>
          <a:prstGeom prst="ellipse">
            <a:avLst/>
          </a:prstGeom>
          <a:solidFill>
            <a:srgbClr val="E4B33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Text 1"/>
          <p:cNvSpPr/>
          <p:nvPr/>
        </p:nvSpPr>
        <p:spPr>
          <a:xfrm>
            <a:off x="457200" y="255960"/>
            <a:ext cx="475200" cy="47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2</a:t>
            </a:r>
            <a:endParaRPr lang="en-US" sz="2200" b="0" u="none" strike="noStrike">
              <a:solidFill>
                <a:srgbClr val="000000"/>
              </a:solidFill>
              <a:effectLst/>
              <a:uFillTx/>
              <a:latin typeface="Arial"/>
            </a:endParaRPr>
          </a:p>
        </p:txBody>
      </p:sp>
      <p:sp>
        <p:nvSpPr>
          <p:cNvPr id="58" name="Text 2"/>
          <p:cNvSpPr/>
          <p:nvPr/>
        </p:nvSpPr>
        <p:spPr>
          <a:xfrm>
            <a:off x="1051560" y="219600"/>
            <a:ext cx="7680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3D2E"/>
                </a:solidFill>
                <a:effectLst/>
                <a:uFillTx/>
                <a:latin typeface="Cambria"/>
                <a:ea typeface="Cambria"/>
              </a:rPr>
              <a:t>Defensive workload</a:t>
            </a:r>
            <a:endParaRPr lang="en-US" sz="2800" b="0" u="none" strike="noStrike">
              <a:solidFill>
                <a:srgbClr val="000000"/>
              </a:solidFill>
              <a:effectLst/>
              <a:uFillTx/>
              <a:latin typeface="Arial"/>
            </a:endParaRPr>
          </a:p>
        </p:txBody>
      </p:sp>
      <p:sp>
        <p:nvSpPr>
          <p:cNvPr id="59" name="Text 3"/>
          <p:cNvSpPr/>
          <p:nvPr/>
        </p:nvSpPr>
        <p:spPr>
          <a:xfrm>
            <a:off x="1051560" y="694800"/>
            <a:ext cx="76806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i="1" u="none" strike="noStrike">
                <a:solidFill>
                  <a:srgbClr val="5A6068"/>
                </a:solidFill>
                <a:effectLst/>
                <a:uFillTx/>
                <a:latin typeface="Calibri"/>
                <a:ea typeface="Calibri"/>
              </a:rPr>
              <a:t>Q2: How often is a keeper tested per 90 minutes - and do UEFA / CONMEBOL keepers face a lighter workload?  Simple random sample, n = 40.</a:t>
            </a:r>
            <a:endParaRPr lang="en-US" sz="1250" b="0" u="none" strike="noStrike">
              <a:solidFill>
                <a:srgbClr val="000000"/>
              </a:solidFill>
              <a:effectLst/>
              <a:uFillTx/>
              <a:latin typeface="Arial"/>
            </a:endParaRPr>
          </a:p>
        </p:txBody>
      </p:sp>
      <p:pic>
        <p:nvPicPr>
          <p:cNvPr id="60" name="Image 0" descr="figures/fig2_workload.png"/>
          <p:cNvPicPr/>
          <p:nvPr/>
        </p:nvPicPr>
        <p:blipFill>
          <a:blip r:embed="rId1"/>
          <a:stretch/>
        </p:blipFill>
        <p:spPr>
          <a:xfrm>
            <a:off x="457200" y="1170360"/>
            <a:ext cx="8229240" cy="2468520"/>
          </a:xfrm>
          <a:prstGeom prst="rect">
            <a:avLst/>
          </a:prstGeom>
          <a:noFill/>
          <a:ln w="0">
            <a:noFill/>
          </a:ln>
        </p:spPr>
      </p:pic>
      <p:sp>
        <p:nvSpPr>
          <p:cNvPr id="61" name="Shape 4"/>
          <p:cNvSpPr/>
          <p:nvPr/>
        </p:nvSpPr>
        <p:spPr>
          <a:xfrm>
            <a:off x="45720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Text 5"/>
          <p:cNvSpPr/>
          <p:nvPr/>
        </p:nvSpPr>
        <p:spPr>
          <a:xfrm>
            <a:off x="45720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4.63</a:t>
            </a:r>
            <a:endParaRPr lang="en-US" sz="2200" b="0" u="none" strike="noStrike">
              <a:solidFill>
                <a:srgbClr val="000000"/>
              </a:solidFill>
              <a:effectLst/>
              <a:uFillTx/>
              <a:latin typeface="Arial"/>
            </a:endParaRPr>
          </a:p>
        </p:txBody>
      </p:sp>
      <p:sp>
        <p:nvSpPr>
          <p:cNvPr id="63" name="Text 6"/>
          <p:cNvSpPr/>
          <p:nvPr/>
        </p:nvSpPr>
        <p:spPr>
          <a:xfrm>
            <a:off x="45720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shots on target faced per 90</a:t>
            </a:r>
            <a:endParaRPr lang="en-US" sz="1050" b="0" u="none" strike="noStrike">
              <a:solidFill>
                <a:srgbClr val="000000"/>
              </a:solidFill>
              <a:effectLst/>
              <a:uFillTx/>
              <a:latin typeface="Arial"/>
            </a:endParaRPr>
          </a:p>
        </p:txBody>
      </p:sp>
      <p:sp>
        <p:nvSpPr>
          <p:cNvPr id="64" name="Shape 7"/>
          <p:cNvSpPr/>
          <p:nvPr/>
        </p:nvSpPr>
        <p:spPr>
          <a:xfrm>
            <a:off x="258336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Text 8"/>
          <p:cNvSpPr/>
          <p:nvPr/>
        </p:nvSpPr>
        <p:spPr>
          <a:xfrm>
            <a:off x="258336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3.94 – 5.32</a:t>
            </a:r>
            <a:endParaRPr lang="en-US" sz="2200" b="0" u="none" strike="noStrike">
              <a:solidFill>
                <a:srgbClr val="000000"/>
              </a:solidFill>
              <a:effectLst/>
              <a:uFillTx/>
              <a:latin typeface="Arial"/>
            </a:endParaRPr>
          </a:p>
        </p:txBody>
      </p:sp>
      <p:sp>
        <p:nvSpPr>
          <p:cNvPr id="66" name="Text 9"/>
          <p:cNvSpPr/>
          <p:nvPr/>
        </p:nvSpPr>
        <p:spPr>
          <a:xfrm>
            <a:off x="258336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95% confidence interval</a:t>
            </a:r>
            <a:endParaRPr lang="en-US" sz="1050" b="0" u="none" strike="noStrike">
              <a:solidFill>
                <a:srgbClr val="000000"/>
              </a:solidFill>
              <a:effectLst/>
              <a:uFillTx/>
              <a:latin typeface="Arial"/>
            </a:endParaRPr>
          </a:p>
        </p:txBody>
      </p:sp>
      <p:sp>
        <p:nvSpPr>
          <p:cNvPr id="67" name="Shape 10"/>
          <p:cNvSpPr/>
          <p:nvPr/>
        </p:nvSpPr>
        <p:spPr>
          <a:xfrm>
            <a:off x="470916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Text 11"/>
          <p:cNvSpPr/>
          <p:nvPr/>
        </p:nvSpPr>
        <p:spPr>
          <a:xfrm>
            <a:off x="470916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3.96 vs 4.95</a:t>
            </a:r>
            <a:endParaRPr lang="en-US" sz="2200" b="0" u="none" strike="noStrike">
              <a:solidFill>
                <a:srgbClr val="000000"/>
              </a:solidFill>
              <a:effectLst/>
              <a:uFillTx/>
              <a:latin typeface="Arial"/>
            </a:endParaRPr>
          </a:p>
        </p:txBody>
      </p:sp>
      <p:sp>
        <p:nvSpPr>
          <p:cNvPr id="69" name="Text 12"/>
          <p:cNvSpPr/>
          <p:nvPr/>
        </p:nvSpPr>
        <p:spPr>
          <a:xfrm>
            <a:off x="470916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UEFA/CONMEBOL vs rest</a:t>
            </a:r>
            <a:endParaRPr lang="en-US" sz="1050" b="0" u="none" strike="noStrike">
              <a:solidFill>
                <a:srgbClr val="000000"/>
              </a:solidFill>
              <a:effectLst/>
              <a:uFillTx/>
              <a:latin typeface="Arial"/>
            </a:endParaRPr>
          </a:p>
        </p:txBody>
      </p:sp>
      <p:sp>
        <p:nvSpPr>
          <p:cNvPr id="70" name="Shape 13"/>
          <p:cNvSpPr/>
          <p:nvPr/>
        </p:nvSpPr>
        <p:spPr>
          <a:xfrm>
            <a:off x="6835320" y="3913560"/>
            <a:ext cx="1851480" cy="868320"/>
          </a:xfrm>
          <a:prstGeom prst="roundRect">
            <a:avLst>
              <a:gd name="adj" fmla="val 8421"/>
            </a:avLst>
          </a:prstGeom>
          <a:solidFill>
            <a:srgbClr val="0B3D2E"/>
          </a:solidFill>
          <a:ln w="12700">
            <a:solidFill>
              <a:srgbClr val="0B3D2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 name="Text 14"/>
          <p:cNvSpPr/>
          <p:nvPr/>
        </p:nvSpPr>
        <p:spPr>
          <a:xfrm>
            <a:off x="683532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E4B33C"/>
                </a:solidFill>
                <a:effectLst/>
                <a:uFillTx/>
                <a:latin typeface="Cambria"/>
                <a:ea typeface="Cambria"/>
              </a:rPr>
              <a:t>p = 0.166</a:t>
            </a:r>
            <a:endParaRPr lang="en-US" sz="2200" b="0" u="none" strike="noStrike">
              <a:solidFill>
                <a:srgbClr val="000000"/>
              </a:solidFill>
              <a:effectLst/>
              <a:uFillTx/>
              <a:latin typeface="Arial"/>
            </a:endParaRPr>
          </a:p>
        </p:txBody>
      </p:sp>
      <p:sp>
        <p:nvSpPr>
          <p:cNvPr id="72" name="Text 15"/>
          <p:cNvSpPr/>
          <p:nvPr/>
        </p:nvSpPr>
        <p:spPr>
          <a:xfrm>
            <a:off x="683532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FFFFFF"/>
                </a:solidFill>
                <a:effectLst/>
                <a:uFillTx/>
                <a:latin typeface="Calibri"/>
                <a:ea typeface="Calibri"/>
              </a:rPr>
              <a:t>fail to reject H0  ·  not significant</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Shape 0"/>
          <p:cNvSpPr/>
          <p:nvPr/>
        </p:nvSpPr>
        <p:spPr>
          <a:xfrm>
            <a:off x="457200" y="255960"/>
            <a:ext cx="475200" cy="475200"/>
          </a:xfrm>
          <a:prstGeom prst="ellipse">
            <a:avLst/>
          </a:prstGeom>
          <a:solidFill>
            <a:srgbClr val="E4B33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Text 1"/>
          <p:cNvSpPr/>
          <p:nvPr/>
        </p:nvSpPr>
        <p:spPr>
          <a:xfrm>
            <a:off x="457200" y="255960"/>
            <a:ext cx="475200" cy="47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3</a:t>
            </a:r>
            <a:endParaRPr lang="en-US" sz="2200" b="0" u="none" strike="noStrike">
              <a:solidFill>
                <a:srgbClr val="000000"/>
              </a:solidFill>
              <a:effectLst/>
              <a:uFillTx/>
              <a:latin typeface="Arial"/>
            </a:endParaRPr>
          </a:p>
        </p:txBody>
      </p:sp>
      <p:sp>
        <p:nvSpPr>
          <p:cNvPr id="75" name="Text 2"/>
          <p:cNvSpPr/>
          <p:nvPr/>
        </p:nvSpPr>
        <p:spPr>
          <a:xfrm>
            <a:off x="1051560" y="219600"/>
            <a:ext cx="7680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3D2E"/>
                </a:solidFill>
                <a:effectLst/>
                <a:uFillTx/>
                <a:latin typeface="Cambria"/>
                <a:ea typeface="Cambria"/>
              </a:rPr>
              <a:t>Age profile: an experience position</a:t>
            </a:r>
            <a:endParaRPr lang="en-US" sz="2800" b="0" u="none" strike="noStrike">
              <a:solidFill>
                <a:srgbClr val="000000"/>
              </a:solidFill>
              <a:effectLst/>
              <a:uFillTx/>
              <a:latin typeface="Arial"/>
            </a:endParaRPr>
          </a:p>
        </p:txBody>
      </p:sp>
      <p:sp>
        <p:nvSpPr>
          <p:cNvPr id="76" name="Text 3"/>
          <p:cNvSpPr/>
          <p:nvPr/>
        </p:nvSpPr>
        <p:spPr>
          <a:xfrm>
            <a:off x="1051560" y="694800"/>
            <a:ext cx="76806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i="1" u="none" strike="noStrike">
                <a:solidFill>
                  <a:srgbClr val="5A6068"/>
                </a:solidFill>
                <a:effectLst/>
                <a:uFillTx/>
                <a:latin typeface="Calibri"/>
                <a:ea typeface="Calibri"/>
              </a:rPr>
              <a:t>Q3: Is the mean age of World Cup goalkeepers different from 27, the peak age of an outfield professional?  Systematic sample, n = 31.</a:t>
            </a:r>
            <a:endParaRPr lang="en-US" sz="1250" b="0" u="none" strike="noStrike">
              <a:solidFill>
                <a:srgbClr val="000000"/>
              </a:solidFill>
              <a:effectLst/>
              <a:uFillTx/>
              <a:latin typeface="Arial"/>
            </a:endParaRPr>
          </a:p>
        </p:txBody>
      </p:sp>
      <p:pic>
        <p:nvPicPr>
          <p:cNvPr id="77" name="Image 0" descr="figures/fig3_age_profile.png"/>
          <p:cNvPicPr/>
          <p:nvPr/>
        </p:nvPicPr>
        <p:blipFill>
          <a:blip r:embed="rId1"/>
          <a:stretch/>
        </p:blipFill>
        <p:spPr>
          <a:xfrm>
            <a:off x="457200" y="1170360"/>
            <a:ext cx="8229240" cy="2468520"/>
          </a:xfrm>
          <a:prstGeom prst="rect">
            <a:avLst/>
          </a:prstGeom>
          <a:noFill/>
          <a:ln w="0">
            <a:noFill/>
          </a:ln>
        </p:spPr>
      </p:pic>
      <p:sp>
        <p:nvSpPr>
          <p:cNvPr id="78" name="Shape 4"/>
          <p:cNvSpPr/>
          <p:nvPr/>
        </p:nvSpPr>
        <p:spPr>
          <a:xfrm>
            <a:off x="45720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Text 5"/>
          <p:cNvSpPr/>
          <p:nvPr/>
        </p:nvSpPr>
        <p:spPr>
          <a:xfrm>
            <a:off x="45720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31.1 yrs</a:t>
            </a:r>
            <a:endParaRPr lang="en-US" sz="2200" b="0" u="none" strike="noStrike">
              <a:solidFill>
                <a:srgbClr val="000000"/>
              </a:solidFill>
              <a:effectLst/>
              <a:uFillTx/>
              <a:latin typeface="Arial"/>
            </a:endParaRPr>
          </a:p>
        </p:txBody>
      </p:sp>
      <p:sp>
        <p:nvSpPr>
          <p:cNvPr id="80" name="Text 6"/>
          <p:cNvSpPr/>
          <p:nvPr/>
        </p:nvSpPr>
        <p:spPr>
          <a:xfrm>
            <a:off x="45720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mean goalkeeper age</a:t>
            </a:r>
            <a:endParaRPr lang="en-US" sz="1050" b="0" u="none" strike="noStrike">
              <a:solidFill>
                <a:srgbClr val="000000"/>
              </a:solidFill>
              <a:effectLst/>
              <a:uFillTx/>
              <a:latin typeface="Arial"/>
            </a:endParaRPr>
          </a:p>
        </p:txBody>
      </p:sp>
      <p:sp>
        <p:nvSpPr>
          <p:cNvPr id="81" name="Shape 7"/>
          <p:cNvSpPr/>
          <p:nvPr/>
        </p:nvSpPr>
        <p:spPr>
          <a:xfrm>
            <a:off x="258336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Text 8"/>
          <p:cNvSpPr/>
          <p:nvPr/>
        </p:nvSpPr>
        <p:spPr>
          <a:xfrm>
            <a:off x="258336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29.5 – 32.7</a:t>
            </a:r>
            <a:endParaRPr lang="en-US" sz="2200" b="0" u="none" strike="noStrike">
              <a:solidFill>
                <a:srgbClr val="000000"/>
              </a:solidFill>
              <a:effectLst/>
              <a:uFillTx/>
              <a:latin typeface="Arial"/>
            </a:endParaRPr>
          </a:p>
        </p:txBody>
      </p:sp>
      <p:sp>
        <p:nvSpPr>
          <p:cNvPr id="83" name="Text 9"/>
          <p:cNvSpPr/>
          <p:nvPr/>
        </p:nvSpPr>
        <p:spPr>
          <a:xfrm>
            <a:off x="258336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95% confidence interval</a:t>
            </a:r>
            <a:endParaRPr lang="en-US" sz="1050" b="0" u="none" strike="noStrike">
              <a:solidFill>
                <a:srgbClr val="000000"/>
              </a:solidFill>
              <a:effectLst/>
              <a:uFillTx/>
              <a:latin typeface="Arial"/>
            </a:endParaRPr>
          </a:p>
        </p:txBody>
      </p:sp>
      <p:sp>
        <p:nvSpPr>
          <p:cNvPr id="84" name="Shape 10"/>
          <p:cNvSpPr/>
          <p:nvPr/>
        </p:nvSpPr>
        <p:spPr>
          <a:xfrm>
            <a:off x="4709160" y="3913560"/>
            <a:ext cx="1851480" cy="868320"/>
          </a:xfrm>
          <a:prstGeom prst="roundRect">
            <a:avLst>
              <a:gd name="adj" fmla="val 842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 name="Text 11"/>
          <p:cNvSpPr/>
          <p:nvPr/>
        </p:nvSpPr>
        <p:spPr>
          <a:xfrm>
            <a:off x="470916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3D2E"/>
                </a:solidFill>
                <a:effectLst/>
                <a:uFillTx/>
                <a:latin typeface="Cambria"/>
                <a:ea typeface="Cambria"/>
              </a:rPr>
              <a:t>+4.1 yrs</a:t>
            </a:r>
            <a:endParaRPr lang="en-US" sz="2200" b="0" u="none" strike="noStrike">
              <a:solidFill>
                <a:srgbClr val="000000"/>
              </a:solidFill>
              <a:effectLst/>
              <a:uFillTx/>
              <a:latin typeface="Arial"/>
            </a:endParaRPr>
          </a:p>
        </p:txBody>
      </p:sp>
      <p:sp>
        <p:nvSpPr>
          <p:cNvPr id="86" name="Text 12"/>
          <p:cNvSpPr/>
          <p:nvPr/>
        </p:nvSpPr>
        <p:spPr>
          <a:xfrm>
            <a:off x="470916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5A6068"/>
                </a:solidFill>
                <a:effectLst/>
                <a:uFillTx/>
                <a:latin typeface="Calibri"/>
                <a:ea typeface="Calibri"/>
              </a:rPr>
              <a:t>above the 27-year benchmark</a:t>
            </a:r>
            <a:endParaRPr lang="en-US" sz="1050" b="0" u="none" strike="noStrike">
              <a:solidFill>
                <a:srgbClr val="000000"/>
              </a:solidFill>
              <a:effectLst/>
              <a:uFillTx/>
              <a:latin typeface="Arial"/>
            </a:endParaRPr>
          </a:p>
        </p:txBody>
      </p:sp>
      <p:sp>
        <p:nvSpPr>
          <p:cNvPr id="87" name="Shape 13"/>
          <p:cNvSpPr/>
          <p:nvPr/>
        </p:nvSpPr>
        <p:spPr>
          <a:xfrm>
            <a:off x="6835320" y="3913560"/>
            <a:ext cx="1851480" cy="868320"/>
          </a:xfrm>
          <a:prstGeom prst="roundRect">
            <a:avLst>
              <a:gd name="adj" fmla="val 8421"/>
            </a:avLst>
          </a:prstGeom>
          <a:solidFill>
            <a:srgbClr val="0B3D2E"/>
          </a:solidFill>
          <a:ln w="12700">
            <a:solidFill>
              <a:srgbClr val="0B3D2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8" name="Text 14"/>
          <p:cNvSpPr/>
          <p:nvPr/>
        </p:nvSpPr>
        <p:spPr>
          <a:xfrm>
            <a:off x="6835320" y="3968640"/>
            <a:ext cx="18514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E4B33C"/>
                </a:solidFill>
                <a:effectLst/>
                <a:uFillTx/>
                <a:latin typeface="Cambria"/>
                <a:ea typeface="Cambria"/>
              </a:rPr>
              <a:t>p &lt; 0.0001</a:t>
            </a:r>
            <a:endParaRPr lang="en-US" sz="2200" b="0" u="none" strike="noStrike">
              <a:solidFill>
                <a:srgbClr val="000000"/>
              </a:solidFill>
              <a:effectLst/>
              <a:uFillTx/>
              <a:latin typeface="Arial"/>
            </a:endParaRPr>
          </a:p>
        </p:txBody>
      </p:sp>
      <p:sp>
        <p:nvSpPr>
          <p:cNvPr id="89" name="Text 15"/>
          <p:cNvSpPr/>
          <p:nvPr/>
        </p:nvSpPr>
        <p:spPr>
          <a:xfrm>
            <a:off x="6835320" y="4370760"/>
            <a:ext cx="1851480" cy="347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rgbClr val="FFFFFF"/>
                </a:solidFill>
                <a:effectLst/>
                <a:uFillTx/>
                <a:latin typeface="Calibri"/>
                <a:ea typeface="Calibri"/>
              </a:rPr>
              <a:t>reject H0  ·  d = 0.94 (large)</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Shape 0"/>
          <p:cNvSpPr/>
          <p:nvPr/>
        </p:nvSpPr>
        <p:spPr>
          <a:xfrm>
            <a:off x="457200" y="255960"/>
            <a:ext cx="475200" cy="475200"/>
          </a:xfrm>
          <a:prstGeom prst="ellipse">
            <a:avLst/>
          </a:prstGeom>
          <a:solidFill>
            <a:srgbClr val="0B3D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 name="Text 1"/>
          <p:cNvSpPr/>
          <p:nvPr/>
        </p:nvSpPr>
        <p:spPr>
          <a:xfrm>
            <a:off x="457200" y="255960"/>
            <a:ext cx="475200" cy="47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E4B33C"/>
                </a:solidFill>
                <a:effectLst/>
                <a:uFillTx/>
                <a:latin typeface="Cambria"/>
                <a:ea typeface="Cambria"/>
              </a:rPr>
              <a:t>R</a:t>
            </a:r>
            <a:endParaRPr lang="en-US" sz="2200" b="0" u="none" strike="noStrike">
              <a:solidFill>
                <a:srgbClr val="000000"/>
              </a:solidFill>
              <a:effectLst/>
              <a:uFillTx/>
              <a:latin typeface="Arial"/>
            </a:endParaRPr>
          </a:p>
        </p:txBody>
      </p:sp>
      <p:sp>
        <p:nvSpPr>
          <p:cNvPr id="92" name="Text 2"/>
          <p:cNvSpPr/>
          <p:nvPr/>
        </p:nvSpPr>
        <p:spPr>
          <a:xfrm>
            <a:off x="1051560" y="219600"/>
            <a:ext cx="7680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3D2E"/>
                </a:solidFill>
                <a:effectLst/>
                <a:uFillTx/>
                <a:latin typeface="Cambria"/>
                <a:ea typeface="Cambria"/>
              </a:rPr>
              <a:t>Three questions, three designs, one picture</a:t>
            </a:r>
            <a:endParaRPr lang="en-US" sz="2800" b="0" u="none" strike="noStrike">
              <a:solidFill>
                <a:srgbClr val="000000"/>
              </a:solidFill>
              <a:effectLst/>
              <a:uFillTx/>
              <a:latin typeface="Arial"/>
            </a:endParaRPr>
          </a:p>
        </p:txBody>
      </p:sp>
      <p:graphicFrame>
        <p:nvGraphicFramePr>
          <p:cNvPr id="93" name="Table 0"/>
          <p:cNvGraphicFramePr/>
          <p:nvPr/>
        </p:nvGraphicFramePr>
        <p:xfrm>
          <a:off x="457200" y="1115640"/>
          <a:ext cx="8229240" cy="1665720"/>
        </p:xfrm>
        <a:graphic>
          <a:graphicData uri="http://schemas.openxmlformats.org/drawingml/2006/table">
            <a:tbl>
              <a:tblPr/>
              <a:tblGrid>
                <a:gridCol w="1371600"/>
                <a:gridCol w="1325880"/>
                <a:gridCol w="1463040"/>
                <a:gridCol w="1691640"/>
                <a:gridCol w="1143000"/>
                <a:gridCol w="1234440"/>
              </a:tblGrid>
              <a:tr h="383760">
                <a:tc>
                  <a:txBody>
                    <a:bodyPr anchor="ctr">
                      <a:noAutofit/>
                    </a:bodyPr>
                    <a:p>
                      <a:pPr defTabSz="914400">
                        <a:lnSpc>
                          <a:spcPct val="100000"/>
                        </a:lnSpc>
                        <a:tabLst>
                          <a:tab pos="0" algn="l"/>
                        </a:tabLst>
                      </a:pPr>
                      <a:r>
                        <a:rPr lang="en-US" sz="1100" b="1" u="none" strike="noStrike">
                          <a:solidFill>
                            <a:srgbClr val="1A2421"/>
                          </a:solidFill>
                          <a:effectLst/>
                          <a:uFillTx/>
                          <a:latin typeface="Calibri"/>
                          <a:ea typeface="Calibri"/>
                        </a:rPr>
                        <a:t>Focal point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1A2421"/>
                          </a:solidFill>
                          <a:effectLst/>
                          <a:uFillTx/>
                          <a:latin typeface="Calibri"/>
                          <a:ea typeface="Calibri"/>
                        </a:rPr>
                        <a:t>Variable</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1A2421"/>
                          </a:solidFill>
                          <a:effectLst/>
                          <a:uFillTx/>
                          <a:latin typeface="Calibri"/>
                          <a:ea typeface="Calibri"/>
                        </a:rPr>
                        <a:t>Sampling (n)</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1A2421"/>
                          </a:solidFill>
                          <a:effectLst/>
                          <a:uFillTx/>
                          <a:latin typeface="Calibri"/>
                          <a:ea typeface="Calibri"/>
                        </a:rPr>
                        <a:t>Mean [95% CI]</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1A2421"/>
                          </a:solidFill>
                          <a:effectLst/>
                          <a:uFillTx/>
                          <a:latin typeface="Calibri"/>
                          <a:ea typeface="Calibri"/>
                        </a:rPr>
                        <a:t>Test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1A2421"/>
                          </a:solidFill>
                          <a:effectLst/>
                          <a:uFillTx/>
                          <a:latin typeface="Calibri"/>
                          <a:ea typeface="Calibri"/>
                        </a:rPr>
                        <a:t>Result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r>
              <a:tr h="383760">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Shot-stopping</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Save %</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Stratified (36)</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63.6  [58.4, 68.8]</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Two-sample 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p = 0.006  ✓ significant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r>
              <a:tr h="383760">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Workload</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Shots faced / 90</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Simple random (40)</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4.63  [3.94, 5.32]</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Two-sample 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p = 0.166  ✗ not significant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r>
              <a:tr h="383760">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Age profile</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Age (years)</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Systematic (31)</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31.1  [29.5, 32.7]</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One-sample 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A2421"/>
                          </a:solidFill>
                          <a:effectLst/>
                          <a:uFillTx/>
                          <a:latin typeface="Calibri"/>
                          <a:ea typeface="Calibri"/>
                        </a:rPr>
                        <a:t>p &lt; 0.0001  ✓ significant</a:t>
                      </a:r>
                      <a:endParaRPr lang="en-US" sz="1100" b="0" u="none" strike="noStrike">
                        <a:solidFill>
                          <a:srgbClr val="000000"/>
                        </a:solidFill>
                        <a:effectLst/>
                        <a:uFillTx/>
                        <a:latin typeface="Arial"/>
                      </a:endParaRPr>
                    </a:p>
                  </a:txBody>
                  <a:tcPr anchor="ctr" marL="91440" marR="91440" marT="45720" marB="45720">
                    <a:lnL w="12240">
                      <a:solidFill>
                        <a:srgbClr val="D5E0DA"/>
                      </a:solidFill>
                      <a:prstDash val="solid"/>
                    </a:lnL>
                    <a:lnR w="12240">
                      <a:solidFill>
                        <a:srgbClr val="D5E0DA"/>
                      </a:solidFill>
                      <a:prstDash val="solid"/>
                    </a:lnR>
                    <a:lnT w="12240">
                      <a:solidFill>
                        <a:srgbClr val="D5E0DA"/>
                      </a:solidFill>
                      <a:prstDash val="solid"/>
                    </a:lnT>
                    <a:lnB w="12240">
                      <a:solidFill>
                        <a:srgbClr val="D5E0DA"/>
                      </a:solidFill>
                      <a:prstDash val="solid"/>
                    </a:lnB>
                    <a:solidFill>
                      <a:srgbClr val="FFFFFF"/>
                    </a:solidFill>
                  </a:tcPr>
                </a:tc>
              </a:tr>
            </a:tbl>
          </a:graphicData>
        </a:graphic>
      </p:graphicFrame>
      <p:sp>
        <p:nvSpPr>
          <p:cNvPr id="94" name="Shape 3"/>
          <p:cNvSpPr/>
          <p:nvPr/>
        </p:nvSpPr>
        <p:spPr>
          <a:xfrm>
            <a:off x="457200" y="2971800"/>
            <a:ext cx="3977280" cy="1599840"/>
          </a:xfrm>
          <a:prstGeom prst="roundRect">
            <a:avLst>
              <a:gd name="adj" fmla="val 4571"/>
            </a:avLst>
          </a:prstGeom>
          <a:solidFill>
            <a:srgbClr val="EDF2EF"/>
          </a:solidFill>
          <a:ln w="12700">
            <a:solidFill>
              <a:srgbClr val="D5E0D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5" name="Text 4"/>
          <p:cNvSpPr/>
          <p:nvPr/>
        </p:nvSpPr>
        <p:spPr>
          <a:xfrm>
            <a:off x="685800" y="310896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B3D2E"/>
                </a:solidFill>
                <a:effectLst/>
                <a:uFillTx/>
                <a:latin typeface="Cambria"/>
                <a:ea typeface="Cambria"/>
              </a:rPr>
              <a:t>What ties them together</a:t>
            </a:r>
            <a:endParaRPr lang="en-US" sz="1500" b="0" u="none" strike="noStrike">
              <a:solidFill>
                <a:srgbClr val="000000"/>
              </a:solidFill>
              <a:effectLst/>
              <a:uFillTx/>
              <a:latin typeface="Arial"/>
            </a:endParaRPr>
          </a:p>
        </p:txBody>
      </p:sp>
      <p:sp>
        <p:nvSpPr>
          <p:cNvPr id="96" name="Text 5"/>
          <p:cNvSpPr/>
          <p:nvPr/>
        </p:nvSpPr>
        <p:spPr>
          <a:xfrm>
            <a:off x="685800" y="3429000"/>
            <a:ext cx="3520080" cy="10054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5A6068"/>
              </a:buClr>
              <a:buFont typeface="Symbol" charset="2"/>
              <a:buChar char=""/>
            </a:pPr>
            <a:r>
              <a:rPr lang="en-US" sz="1150" b="0" u="none" strike="noStrike">
                <a:solidFill>
                  <a:srgbClr val="5A6068"/>
                </a:solidFill>
                <a:effectLst/>
                <a:uFillTx/>
                <a:latin typeface="Calibri"/>
                <a:ea typeface="Calibri"/>
              </a:rPr>
              <a:t>Progression tracks the quality of the saving, not a lighter workload.</a:t>
            </a:r>
            <a:endParaRPr lang="en-US" sz="1150" b="0" u="none" strike="noStrike">
              <a:solidFill>
                <a:srgbClr val="000000"/>
              </a:solidFill>
              <a:effectLst/>
              <a:uFillTx/>
              <a:latin typeface="Arial"/>
            </a:endParaRPr>
          </a:p>
          <a:p>
            <a:pPr marL="343080" indent="-343080" defTabSz="914400">
              <a:lnSpc>
                <a:spcPct val="100000"/>
              </a:lnSpc>
              <a:spcAft>
                <a:spcPts val="601"/>
              </a:spcAft>
              <a:buClr>
                <a:srgbClr val="5A6068"/>
              </a:buClr>
              <a:buFont typeface="Symbol" charset="2"/>
              <a:buChar char=""/>
            </a:pPr>
            <a:r>
              <a:rPr lang="en-US" sz="1150" b="0" u="none" strike="noStrike">
                <a:solidFill>
                  <a:srgbClr val="5A6068"/>
                </a:solidFill>
                <a:effectLst/>
                <a:uFillTx/>
                <a:latin typeface="Calibri"/>
                <a:ea typeface="Calibri"/>
              </a:rPr>
              <a:t>The keepers trusted with the job are the experienced ones.</a:t>
            </a:r>
            <a:endParaRPr lang="en-US" sz="1150" b="0" u="none" strike="noStrike">
              <a:solidFill>
                <a:srgbClr val="000000"/>
              </a:solidFill>
              <a:effectLst/>
              <a:uFillTx/>
              <a:latin typeface="Arial"/>
            </a:endParaRPr>
          </a:p>
        </p:txBody>
      </p:sp>
      <p:sp>
        <p:nvSpPr>
          <p:cNvPr id="97" name="Shape 6"/>
          <p:cNvSpPr/>
          <p:nvPr/>
        </p:nvSpPr>
        <p:spPr>
          <a:xfrm>
            <a:off x="4709160" y="2971800"/>
            <a:ext cx="3977280" cy="1599840"/>
          </a:xfrm>
          <a:prstGeom prst="roundRect">
            <a:avLst>
              <a:gd name="adj" fmla="val 4571"/>
            </a:avLst>
          </a:prstGeom>
          <a:solidFill>
            <a:srgbClr val="0B3D2E"/>
          </a:solidFill>
          <a:ln w="12700">
            <a:solidFill>
              <a:srgbClr val="0B3D2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8" name="Text 7"/>
          <p:cNvSpPr/>
          <p:nvPr/>
        </p:nvSpPr>
        <p:spPr>
          <a:xfrm>
            <a:off x="4937760" y="310896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4B33C"/>
                </a:solidFill>
                <a:effectLst/>
                <a:uFillTx/>
                <a:latin typeface="Cambria"/>
                <a:ea typeface="Cambria"/>
              </a:rPr>
              <a:t>Method check</a:t>
            </a:r>
            <a:endParaRPr lang="en-US" sz="1500" b="0" u="none" strike="noStrike">
              <a:solidFill>
                <a:srgbClr val="000000"/>
              </a:solidFill>
              <a:effectLst/>
              <a:uFillTx/>
              <a:latin typeface="Arial"/>
            </a:endParaRPr>
          </a:p>
        </p:txBody>
      </p:sp>
      <p:sp>
        <p:nvSpPr>
          <p:cNvPr id="99" name="Text 8"/>
          <p:cNvSpPr/>
          <p:nvPr/>
        </p:nvSpPr>
        <p:spPr>
          <a:xfrm>
            <a:off x="4937760" y="3429000"/>
            <a:ext cx="3520080" cy="10054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EDF2EF"/>
              </a:buClr>
              <a:buFont typeface="Symbol" charset="2"/>
              <a:buChar char=""/>
            </a:pPr>
            <a:r>
              <a:rPr lang="en-US" sz="1150" b="0" u="none" strike="noStrike">
                <a:solidFill>
                  <a:srgbClr val="EDF2EF"/>
                </a:solidFill>
                <a:effectLst/>
                <a:uFillTx/>
                <a:latin typeface="Calibri"/>
                <a:ea typeface="Calibri"/>
              </a:rPr>
              <a:t>All three 95% intervals captured the true frame mean.</a:t>
            </a:r>
            <a:endParaRPr lang="en-US" sz="1150" b="0" u="none" strike="noStrike">
              <a:solidFill>
                <a:srgbClr val="000000"/>
              </a:solidFill>
              <a:effectLst/>
              <a:uFillTx/>
              <a:latin typeface="Arial"/>
            </a:endParaRPr>
          </a:p>
          <a:p>
            <a:pPr marL="343080" indent="-343080" defTabSz="914400">
              <a:lnSpc>
                <a:spcPct val="100000"/>
              </a:lnSpc>
              <a:spcAft>
                <a:spcPts val="601"/>
              </a:spcAft>
              <a:buClr>
                <a:srgbClr val="EDF2EF"/>
              </a:buClr>
              <a:buFont typeface="Symbol" charset="2"/>
              <a:buChar char=""/>
            </a:pPr>
            <a:r>
              <a:rPr lang="en-US" sz="1150" b="0" u="none" strike="noStrike">
                <a:solidFill>
                  <a:srgbClr val="EDF2EF"/>
                </a:solidFill>
                <a:effectLst/>
                <a:uFillTx/>
                <a:latin typeface="Calibri"/>
                <a:ea typeface="Calibri"/>
              </a:rPr>
              <a:t>Normality and equal-variance assumptions checked before every test.</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3D2E"/>
        </a:solidFill>
      </p:bgPr>
    </p:bg>
    <p:spTree>
      <p:nvGrpSpPr>
        <p:cNvPr id="1" name=""/>
        <p:cNvGrpSpPr/>
        <p:nvPr/>
      </p:nvGrpSpPr>
      <p:grpSpPr>
        <a:xfrm>
          <a:off x="0" y="0"/>
          <a:ext cx="0" cy="0"/>
          <a:chOff x="0" y="0"/>
          <a:chExt cx="0" cy="0"/>
        </a:xfrm>
      </p:grpSpPr>
      <p:sp>
        <p:nvSpPr>
          <p:cNvPr id="100" name="Shape 0"/>
          <p:cNvSpPr/>
          <p:nvPr/>
        </p:nvSpPr>
        <p:spPr>
          <a:xfrm>
            <a:off x="7498080" y="-914400"/>
            <a:ext cx="2925720" cy="2925720"/>
          </a:xfrm>
          <a:prstGeom prst="ellipse">
            <a:avLst/>
          </a:prstGeom>
          <a:solidFill>
            <a:srgbClr val="104A38"/>
          </a:solidFill>
          <a:ln w="12700">
            <a:solidFill>
              <a:srgbClr val="104A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 name="Text 1"/>
          <p:cNvSpPr/>
          <p:nvPr/>
        </p:nvSpPr>
        <p:spPr>
          <a:xfrm>
            <a:off x="548640" y="411480"/>
            <a:ext cx="78634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Cambria"/>
                <a:ea typeface="Cambria"/>
              </a:rPr>
              <a:t>What we would say to a coach</a:t>
            </a:r>
            <a:endParaRPr lang="en-US" sz="3000" b="0" u="none" strike="noStrike">
              <a:solidFill>
                <a:srgbClr val="FFFFFF"/>
              </a:solidFill>
              <a:effectLst/>
              <a:uFillTx/>
              <a:latin typeface="Arial"/>
            </a:endParaRPr>
          </a:p>
        </p:txBody>
      </p:sp>
      <p:sp>
        <p:nvSpPr>
          <p:cNvPr id="102" name="Shape 2"/>
          <p:cNvSpPr/>
          <p:nvPr/>
        </p:nvSpPr>
        <p:spPr>
          <a:xfrm>
            <a:off x="548640" y="1161360"/>
            <a:ext cx="365400" cy="365400"/>
          </a:xfrm>
          <a:prstGeom prst="ellipse">
            <a:avLst/>
          </a:prstGeom>
          <a:solidFill>
            <a:srgbClr val="E4B33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 name="Text 3"/>
          <p:cNvSpPr/>
          <p:nvPr/>
        </p:nvSpPr>
        <p:spPr>
          <a:xfrm>
            <a:off x="548640" y="116136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B3D2E"/>
                </a:solidFill>
                <a:effectLst/>
                <a:uFillTx/>
                <a:latin typeface="Cambria"/>
                <a:ea typeface="Cambria"/>
              </a:rPr>
              <a:t>1</a:t>
            </a:r>
            <a:endParaRPr lang="en-US" sz="1500" b="0" u="none" strike="noStrike">
              <a:solidFill>
                <a:srgbClr val="FFFFFF"/>
              </a:solidFill>
              <a:effectLst/>
              <a:uFillTx/>
              <a:latin typeface="Arial"/>
            </a:endParaRPr>
          </a:p>
        </p:txBody>
      </p:sp>
      <p:sp>
        <p:nvSpPr>
          <p:cNvPr id="104" name="Text 4"/>
          <p:cNvSpPr/>
          <p:nvPr/>
        </p:nvSpPr>
        <p:spPr>
          <a:xfrm>
            <a:off x="1051560" y="1143000"/>
            <a:ext cx="45716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4B33C"/>
                </a:solidFill>
                <a:effectLst/>
                <a:uFillTx/>
                <a:latin typeface="Cambria"/>
                <a:ea typeface="Cambria"/>
              </a:rPr>
              <a:t>Recruit for shot-stopping</a:t>
            </a:r>
            <a:endParaRPr lang="en-US" sz="1500" b="0" u="none" strike="noStrike">
              <a:solidFill>
                <a:srgbClr val="FFFFFF"/>
              </a:solidFill>
              <a:effectLst/>
              <a:uFillTx/>
              <a:latin typeface="Arial"/>
            </a:endParaRPr>
          </a:p>
        </p:txBody>
      </p:sp>
      <p:sp>
        <p:nvSpPr>
          <p:cNvPr id="105" name="Text 5"/>
          <p:cNvSpPr/>
          <p:nvPr/>
        </p:nvSpPr>
        <p:spPr>
          <a:xfrm>
            <a:off x="1051560" y="1435680"/>
            <a:ext cx="740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EDF2EF"/>
                </a:solidFill>
                <a:effectLst/>
                <a:uFillTx/>
                <a:latin typeface="Calibri"/>
                <a:ea typeface="Calibri"/>
              </a:rPr>
              <a:t>The 13.6-point save gap between progressing and eliminated teams is the largest effect we found.</a:t>
            </a:r>
            <a:endParaRPr lang="en-US" sz="1150" b="0" u="none" strike="noStrike">
              <a:solidFill>
                <a:srgbClr val="FFFFFF"/>
              </a:solidFill>
              <a:effectLst/>
              <a:uFillTx/>
              <a:latin typeface="Arial"/>
            </a:endParaRPr>
          </a:p>
        </p:txBody>
      </p:sp>
      <p:sp>
        <p:nvSpPr>
          <p:cNvPr id="106" name="Shape 6"/>
          <p:cNvSpPr/>
          <p:nvPr/>
        </p:nvSpPr>
        <p:spPr>
          <a:xfrm>
            <a:off x="548640" y="2002680"/>
            <a:ext cx="365400" cy="365400"/>
          </a:xfrm>
          <a:prstGeom prst="ellipse">
            <a:avLst/>
          </a:prstGeom>
          <a:solidFill>
            <a:srgbClr val="E4B33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 name="Text 7"/>
          <p:cNvSpPr/>
          <p:nvPr/>
        </p:nvSpPr>
        <p:spPr>
          <a:xfrm>
            <a:off x="548640" y="200268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B3D2E"/>
                </a:solidFill>
                <a:effectLst/>
                <a:uFillTx/>
                <a:latin typeface="Cambria"/>
                <a:ea typeface="Cambria"/>
              </a:rPr>
              <a:t>2</a:t>
            </a:r>
            <a:endParaRPr lang="en-US" sz="1500" b="0" u="none" strike="noStrike">
              <a:solidFill>
                <a:srgbClr val="FFFFFF"/>
              </a:solidFill>
              <a:effectLst/>
              <a:uFillTx/>
              <a:latin typeface="Arial"/>
            </a:endParaRPr>
          </a:p>
        </p:txBody>
      </p:sp>
      <p:sp>
        <p:nvSpPr>
          <p:cNvPr id="108" name="Text 8"/>
          <p:cNvSpPr/>
          <p:nvPr/>
        </p:nvSpPr>
        <p:spPr>
          <a:xfrm>
            <a:off x="1051560" y="1984320"/>
            <a:ext cx="45716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4B33C"/>
                </a:solidFill>
                <a:effectLst/>
                <a:uFillTx/>
                <a:latin typeface="Cambria"/>
                <a:ea typeface="Cambria"/>
              </a:rPr>
              <a:t>Do not read workload as weakness</a:t>
            </a:r>
            <a:endParaRPr lang="en-US" sz="1500" b="0" u="none" strike="noStrike">
              <a:solidFill>
                <a:srgbClr val="FFFFFF"/>
              </a:solidFill>
              <a:effectLst/>
              <a:uFillTx/>
              <a:latin typeface="Arial"/>
            </a:endParaRPr>
          </a:p>
        </p:txBody>
      </p:sp>
      <p:sp>
        <p:nvSpPr>
          <p:cNvPr id="109" name="Text 9"/>
          <p:cNvSpPr/>
          <p:nvPr/>
        </p:nvSpPr>
        <p:spPr>
          <a:xfrm>
            <a:off x="1051560" y="2277000"/>
            <a:ext cx="740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EDF2EF"/>
                </a:solidFill>
                <a:effectLst/>
                <a:uFillTx/>
                <a:latin typeface="Calibri"/>
                <a:ea typeface="Calibri"/>
              </a:rPr>
              <a:t>Shot volume faced did not separate the confederations - judge the keeper on the save, not the siege.</a:t>
            </a:r>
            <a:endParaRPr lang="en-US" sz="1150" b="0" u="none" strike="noStrike">
              <a:solidFill>
                <a:srgbClr val="FFFFFF"/>
              </a:solidFill>
              <a:effectLst/>
              <a:uFillTx/>
              <a:latin typeface="Arial"/>
            </a:endParaRPr>
          </a:p>
        </p:txBody>
      </p:sp>
      <p:sp>
        <p:nvSpPr>
          <p:cNvPr id="110" name="Shape 10"/>
          <p:cNvSpPr/>
          <p:nvPr/>
        </p:nvSpPr>
        <p:spPr>
          <a:xfrm>
            <a:off x="548640" y="2843640"/>
            <a:ext cx="365400" cy="365400"/>
          </a:xfrm>
          <a:prstGeom prst="ellipse">
            <a:avLst/>
          </a:prstGeom>
          <a:solidFill>
            <a:srgbClr val="E4B33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Text 11"/>
          <p:cNvSpPr/>
          <p:nvPr/>
        </p:nvSpPr>
        <p:spPr>
          <a:xfrm>
            <a:off x="548640" y="284364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B3D2E"/>
                </a:solidFill>
                <a:effectLst/>
                <a:uFillTx/>
                <a:latin typeface="Cambria"/>
                <a:ea typeface="Cambria"/>
              </a:rPr>
              <a:t>3</a:t>
            </a:r>
            <a:endParaRPr lang="en-US" sz="1500" b="0" u="none" strike="noStrike">
              <a:solidFill>
                <a:srgbClr val="FFFFFF"/>
              </a:solidFill>
              <a:effectLst/>
              <a:uFillTx/>
              <a:latin typeface="Arial"/>
            </a:endParaRPr>
          </a:p>
        </p:txBody>
      </p:sp>
      <p:sp>
        <p:nvSpPr>
          <p:cNvPr id="112" name="Text 12"/>
          <p:cNvSpPr/>
          <p:nvPr/>
        </p:nvSpPr>
        <p:spPr>
          <a:xfrm>
            <a:off x="1051560" y="2825640"/>
            <a:ext cx="45716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4B33C"/>
                </a:solidFill>
                <a:effectLst/>
                <a:uFillTx/>
                <a:latin typeface="Cambria"/>
                <a:ea typeface="Cambria"/>
              </a:rPr>
              <a:t>Value experience</a:t>
            </a:r>
            <a:endParaRPr lang="en-US" sz="1500" b="0" u="none" strike="noStrike">
              <a:solidFill>
                <a:srgbClr val="FFFFFF"/>
              </a:solidFill>
              <a:effectLst/>
              <a:uFillTx/>
              <a:latin typeface="Arial"/>
            </a:endParaRPr>
          </a:p>
        </p:txBody>
      </p:sp>
      <p:sp>
        <p:nvSpPr>
          <p:cNvPr id="113" name="Text 13"/>
          <p:cNvSpPr/>
          <p:nvPr/>
        </p:nvSpPr>
        <p:spPr>
          <a:xfrm>
            <a:off x="1051560" y="3117960"/>
            <a:ext cx="740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EDF2EF"/>
                </a:solidFill>
                <a:effectLst/>
                <a:uFillTx/>
                <a:latin typeface="Calibri"/>
                <a:ea typeface="Calibri"/>
              </a:rPr>
              <a:t>The average World Cup keeper is 31; a 27-year-old is young for this position.</a:t>
            </a:r>
            <a:endParaRPr lang="en-US" sz="1150" b="0" u="none" strike="noStrike">
              <a:solidFill>
                <a:srgbClr val="FFFFFF"/>
              </a:solidFill>
              <a:effectLst/>
              <a:uFillTx/>
              <a:latin typeface="Arial"/>
            </a:endParaRPr>
          </a:p>
        </p:txBody>
      </p:sp>
      <p:sp>
        <p:nvSpPr>
          <p:cNvPr id="114" name="Shape 14"/>
          <p:cNvSpPr/>
          <p:nvPr/>
        </p:nvSpPr>
        <p:spPr>
          <a:xfrm>
            <a:off x="548640" y="3794760"/>
            <a:ext cx="8046360" cy="868320"/>
          </a:xfrm>
          <a:prstGeom prst="roundRect">
            <a:avLst>
              <a:gd name="adj" fmla="val 8421"/>
            </a:avLst>
          </a:prstGeom>
          <a:solidFill>
            <a:srgbClr val="104A38"/>
          </a:solidFill>
          <a:ln w="12700">
            <a:solidFill>
              <a:srgbClr val="1D6B5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5" name="Text 15"/>
          <p:cNvSpPr/>
          <p:nvPr/>
        </p:nvSpPr>
        <p:spPr>
          <a:xfrm>
            <a:off x="777240" y="3886200"/>
            <a:ext cx="1828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4B33C"/>
                </a:solidFill>
                <a:effectLst/>
                <a:uFillTx/>
                <a:latin typeface="Cambria"/>
                <a:ea typeface="Cambria"/>
              </a:rPr>
              <a:t>Limitations</a:t>
            </a:r>
            <a:endParaRPr lang="en-US" sz="1300" b="0" u="none" strike="noStrike">
              <a:solidFill>
                <a:srgbClr val="FFFFFF"/>
              </a:solidFill>
              <a:effectLst/>
              <a:uFillTx/>
              <a:latin typeface="Arial"/>
            </a:endParaRPr>
          </a:p>
        </p:txBody>
      </p:sp>
      <p:sp>
        <p:nvSpPr>
          <p:cNvPr id="116" name="Text 16"/>
          <p:cNvSpPr/>
          <p:nvPr/>
        </p:nvSpPr>
        <p:spPr>
          <a:xfrm>
            <a:off x="777240" y="4160520"/>
            <a:ext cx="7589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DF2EF"/>
                </a:solidFill>
                <a:effectLst/>
                <a:uFillTx/>
                <a:latin typeface="Calibri"/>
                <a:ea typeface="Calibri"/>
              </a:rPr>
              <a:t>One tournament and a small frame; no shot-quality data (xG) to adjust for how hard the chances were; reaching the knockout stage is an outcome, not a randomised treatment - so these are associations, not causes.</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LibreOffice/26.2.5.2$Linux_X86_64 LibreOffice_project/6d2b0d33fb0f5da53a12f98bed3e9973e56ff1f0</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2026-09-09T07:42:38Z</dcterms:created>
  <dc:creator>Data Analytics Group Project</dc:creator>
  <dc:description/>
  <dc:language>en-US</dc:language>
  <cp:lastModifiedBy/>
  <dcterms:modified xsi:type="dcterms:W3CDTF">2026-09-09T22:59:46Z</dcterms:modified>
  <cp:revision>2</cp:revision>
  <dc:subject>PptxGenJS Presentation</dc:subject>
  <dc:title>FIFA World Cup 2026 — Goalkeeper Analysis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